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8" r:id="rId2"/>
    <p:sldId id="267" r:id="rId3"/>
    <p:sldId id="269" r:id="rId4"/>
    <p:sldId id="270" r:id="rId5"/>
    <p:sldId id="271" r:id="rId6"/>
    <p:sldId id="273" r:id="rId7"/>
    <p:sldId id="274" r:id="rId8"/>
    <p:sldId id="275" r:id="rId9"/>
    <p:sldId id="276" r:id="rId10"/>
    <p:sldId id="277" r:id="rId11"/>
    <p:sldId id="261" r:id="rId12"/>
    <p:sldId id="262" r:id="rId13"/>
    <p:sldId id="263" r:id="rId14"/>
    <p:sldId id="264" r:id="rId15"/>
    <p:sldId id="265" r:id="rId16"/>
    <p:sldId id="266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65A941CE-6F94-4464-ADFE-2F960EE06072}">
          <p14:sldIdLst>
            <p14:sldId id="268"/>
            <p14:sldId id="267"/>
          </p14:sldIdLst>
        </p14:section>
        <p14:section name="完成Terminal 範例 Markdown 操作手冊 PR" id="{36520A9D-D890-4DBD-BC5B-7E68EBC53535}">
          <p14:sldIdLst>
            <p14:sldId id="269"/>
            <p14:sldId id="270"/>
            <p14:sldId id="271"/>
            <p14:sldId id="273"/>
            <p14:sldId id="274"/>
            <p14:sldId id="275"/>
            <p14:sldId id="276"/>
            <p14:sldId id="277"/>
          </p14:sldIdLst>
        </p14:section>
        <p14:section name="燒錄Factory" id="{336DFF6B-1948-404B-BFE1-E2178B9675D0}">
          <p14:sldIdLst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水果" id="{DF1867FA-481B-44CB-92CE-C7DD7C67949C}">
          <p14:sldIdLst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048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9746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2989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3459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0647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927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5589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8609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72446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319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07164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988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1970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0339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93811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067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A8001-E26E-4F1A-91CF-E3790C703461}" type="datetimeFigureOut">
              <a:rPr lang="zh-TW" altLang="en-US" smtClean="0"/>
              <a:t>2026/1/6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AEB5E02-92C7-419A-B605-4EBC67D97E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3643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s://universe.roboflow.com/object-detection-fruit/fruit-smrhb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://train.py/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4A6CF-B38F-B7E1-4527-CCB1E2B45D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b="1" dirty="0"/>
              <a:t>深度學習與類神經網路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CAEA094-194F-F568-1127-4505D3D50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2045167"/>
          </a:xfrm>
        </p:spPr>
        <p:txBody>
          <a:bodyPr>
            <a:normAutofit/>
          </a:bodyPr>
          <a:lstStyle/>
          <a:p>
            <a:r>
              <a:rPr lang="zh-TW" altLang="en-US" b="1" dirty="0"/>
              <a:t>實務操作與練習</a:t>
            </a:r>
            <a:endParaRPr lang="en-US" altLang="zh-TW" b="1" dirty="0"/>
          </a:p>
          <a:p>
            <a:r>
              <a:rPr lang="zh-TW" altLang="en-US" b="1" dirty="0"/>
              <a:t>第七組</a:t>
            </a:r>
            <a:endParaRPr lang="en-US" altLang="zh-TW" b="1" dirty="0"/>
          </a:p>
          <a:p>
            <a:r>
              <a:rPr lang="zh-TW" altLang="en-US" b="1" dirty="0"/>
              <a:t>組員：李常弘、丁文鴻、吳懿峰、鄭儒謙</a:t>
            </a:r>
            <a:endParaRPr lang="en-US" altLang="zh-TW" b="1" dirty="0"/>
          </a:p>
          <a:p>
            <a:r>
              <a:rPr lang="zh-TW" altLang="en-US" b="1" dirty="0"/>
              <a:t>報告日期</a:t>
            </a:r>
            <a:r>
              <a:rPr lang="en-US" altLang="zh-TW" b="1" dirty="0"/>
              <a:t>:115/01/06</a:t>
            </a:r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2490087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5E4F04-5BC9-CC4E-6A7D-C43A4D16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B81FCC-B447-7ECA-8BC5-388F4BC25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r>
              <a:rPr lang="zh-TW" altLang="en-US" dirty="0"/>
              <a:t>不僅僅是在電腦上訓練模型，而是希望 </a:t>
            </a:r>
            <a:r>
              <a:rPr lang="zh-TW" altLang="en-US" b="1" dirty="0"/>
              <a:t>模型訓練完成後，能實際部署到 </a:t>
            </a:r>
            <a:r>
              <a:rPr lang="en-US" altLang="zh-TW" b="1" dirty="0"/>
              <a:t>ESP32 </a:t>
            </a:r>
            <a:r>
              <a:rPr lang="zh-TW" altLang="en-US" b="1" dirty="0"/>
              <a:t>這類邊緣裝置上使用</a:t>
            </a:r>
            <a:r>
              <a:rPr lang="zh-TW" altLang="en-US" dirty="0"/>
              <a:t>。</a:t>
            </a:r>
            <a:br>
              <a:rPr lang="zh-TW" altLang="en-US" dirty="0"/>
            </a:br>
            <a:r>
              <a:rPr lang="zh-TW" altLang="en-US" dirty="0"/>
              <a:t>簡單說就是：</a:t>
            </a:r>
            <a:br>
              <a:rPr lang="zh-TW" altLang="en-US" dirty="0"/>
            </a:br>
            <a:r>
              <a:rPr lang="zh-TW" altLang="en-US" dirty="0"/>
              <a:t>👉「不是只有 </a:t>
            </a:r>
            <a:r>
              <a:rPr lang="en-US" altLang="zh-TW" dirty="0"/>
              <a:t>AI</a:t>
            </a:r>
            <a:r>
              <a:rPr lang="zh-TW" altLang="en-US" dirty="0"/>
              <a:t>，而是 </a:t>
            </a:r>
            <a:r>
              <a:rPr lang="en-US" altLang="zh-TW" dirty="0"/>
              <a:t>AI + IoT </a:t>
            </a:r>
            <a:r>
              <a:rPr lang="zh-TW" altLang="en-US" dirty="0"/>
              <a:t>的整合應用」。</a:t>
            </a:r>
          </a:p>
        </p:txBody>
      </p:sp>
      <p:pic>
        <p:nvPicPr>
          <p:cNvPr id="4" name="Picture 2" descr="未命名">
            <a:extLst>
              <a:ext uri="{FF2B5EF4-FFF2-40B4-BE49-F238E27FC236}">
                <a16:creationId xmlns:a16="http://schemas.microsoft.com/office/drawing/2014/main" id="{EBE1D04F-0C71-285B-60D5-6B6D190E3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1" y="2529840"/>
            <a:ext cx="8230401" cy="4057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90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2F0069-386A-968F-43A4-06922CDC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Step1</a:t>
            </a:r>
            <a:r>
              <a:rPr lang="zh-TW" altLang="en-US" b="1" dirty="0">
                <a:latin typeface="+mj-ea"/>
              </a:rPr>
              <a:t>：開發環境設定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60BF4D-9706-6CFF-51A5-7841AD1A1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822266" cy="2050731"/>
          </a:xfrm>
        </p:spPr>
        <p:txBody>
          <a:bodyPr>
            <a:no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000" dirty="0"/>
              <a:t>作業系統：</a:t>
            </a:r>
            <a:r>
              <a:rPr lang="en-US" altLang="zh-TW" sz="2000" dirty="0"/>
              <a:t>Windows 11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000" dirty="0"/>
              <a:t>開發框架：</a:t>
            </a:r>
            <a:r>
              <a:rPr lang="en-US" altLang="zh-TW" sz="2000" dirty="0"/>
              <a:t>ESP-IDF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000" dirty="0"/>
              <a:t>操作終端：</a:t>
            </a:r>
            <a:r>
              <a:rPr lang="en-US" altLang="zh-TW" sz="2000" dirty="0"/>
              <a:t>ESP-IDF Command Prompt</a:t>
            </a:r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000" dirty="0"/>
              <a:t>範例專案：</a:t>
            </a:r>
            <a:r>
              <a:rPr lang="en-US" altLang="zh-TW" sz="2000" dirty="0" err="1"/>
              <a:t>hello_world</a:t>
            </a:r>
            <a:r>
              <a:rPr lang="zh-TW" altLang="en-US" sz="2000" dirty="0"/>
              <a:t>（</a:t>
            </a:r>
            <a:r>
              <a:rPr lang="en-US" altLang="zh-TW" sz="2000" dirty="0"/>
              <a:t>ESP-IDF </a:t>
            </a:r>
            <a:r>
              <a:rPr lang="zh-TW" altLang="en-US" sz="2000" dirty="0"/>
              <a:t>內建範例）</a:t>
            </a:r>
            <a:endParaRPr lang="en-US" altLang="zh-TW" sz="2000" dirty="0"/>
          </a:p>
          <a:p>
            <a:pPr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</a:pPr>
            <a:r>
              <a:rPr lang="zh-TW" altLang="en-US" sz="2000" dirty="0"/>
              <a:t>下載並安裝</a:t>
            </a:r>
            <a:r>
              <a:rPr lang="en-US" altLang="zh-TW" sz="2000" dirty="0"/>
              <a:t>windows</a:t>
            </a:r>
            <a:r>
              <a:rPr lang="zh-TW" altLang="en-US" sz="2000" dirty="0"/>
              <a:t>專用</a:t>
            </a:r>
            <a:r>
              <a:rPr lang="en-US" altLang="zh-TW" sz="2000" dirty="0"/>
              <a:t>ESP-IDF</a:t>
            </a:r>
            <a:r>
              <a:rPr lang="zh-TW" altLang="en-US" sz="2000" dirty="0"/>
              <a:t>開發工具</a:t>
            </a:r>
          </a:p>
        </p:txBody>
      </p:sp>
      <p:pic>
        <p:nvPicPr>
          <p:cNvPr id="4099" name="Picture 3" descr="image">
            <a:extLst>
              <a:ext uri="{FF2B5EF4-FFF2-40B4-BE49-F238E27FC236}">
                <a16:creationId xmlns:a16="http://schemas.microsoft.com/office/drawing/2014/main" id="{7BE3D222-31AC-0C5A-954F-34FA0F28D9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1800" y="1017295"/>
            <a:ext cx="6680200" cy="4823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248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0297A2-2A99-8F9B-F3F8-22D1D46D3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Step2</a:t>
            </a:r>
            <a:r>
              <a:rPr lang="zh-TW" altLang="en-US" b="1" dirty="0">
                <a:latin typeface="+mj-ea"/>
              </a:rPr>
              <a:t>：建立專案</a:t>
            </a:r>
            <a:r>
              <a:rPr lang="en-US" altLang="zh-TW" b="1" dirty="0">
                <a:latin typeface="+mj-ea"/>
              </a:rPr>
              <a:t>(Project Building)</a:t>
            </a:r>
            <a:endParaRPr lang="zh-TW" altLang="en-US" b="1" dirty="0">
              <a:latin typeface="+mj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D544AA-B439-9A65-345D-B5B0D33DE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23709"/>
            <a:ext cx="8596668" cy="3880773"/>
          </a:xfrm>
        </p:spPr>
        <p:txBody>
          <a:bodyPr>
            <a:normAutofit/>
          </a:bodyPr>
          <a:lstStyle/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開啟 </a:t>
            </a:r>
            <a:r>
              <a:rPr lang="en-US" altLang="zh-TW" sz="2000" dirty="0"/>
              <a:t>ESP-IDF CMD</a:t>
            </a:r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切換至工作目錄</a:t>
            </a:r>
            <a:endParaRPr lang="en-US" altLang="zh-TW" sz="2000" dirty="0"/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使用 </a:t>
            </a:r>
            <a:r>
              <a:rPr lang="en-US" altLang="zh-TW" sz="2000" dirty="0"/>
              <a:t>Git </a:t>
            </a:r>
            <a:r>
              <a:rPr lang="zh-TW" altLang="en-US" sz="2000" dirty="0"/>
              <a:t>遞歸克隆 </a:t>
            </a:r>
            <a:r>
              <a:rPr lang="en-US" altLang="zh-TW" sz="2000" dirty="0" err="1"/>
              <a:t>esp-idf</a:t>
            </a:r>
            <a:r>
              <a:rPr lang="en-US" altLang="zh-TW" sz="2000" dirty="0"/>
              <a:t> </a:t>
            </a:r>
            <a:r>
              <a:rPr lang="zh-TW" altLang="en-US" sz="2000" dirty="0"/>
              <a:t>專案的 </a:t>
            </a:r>
            <a:r>
              <a:rPr lang="en-US" altLang="zh-TW" sz="2000" dirty="0"/>
              <a:t>Git </a:t>
            </a:r>
            <a:r>
              <a:rPr lang="zh-TW" altLang="en-US" sz="2000" dirty="0"/>
              <a:t>儲存庫：</a:t>
            </a:r>
            <a:endParaRPr lang="en-US" altLang="zh-TW" sz="2000" dirty="0"/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複製 </a:t>
            </a:r>
            <a:r>
              <a:rPr lang="en-US" altLang="zh-TW" sz="2000" dirty="0"/>
              <a:t>HelloWorld</a:t>
            </a:r>
            <a:r>
              <a:rPr lang="zh-TW" altLang="en-US" sz="2000" dirty="0"/>
              <a:t>至工作目錄</a:t>
            </a:r>
            <a:endParaRPr lang="en-US" altLang="zh-TW" sz="2000" dirty="0"/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進入 </a:t>
            </a:r>
            <a:r>
              <a:rPr lang="en-US" altLang="zh-TW" sz="2000" dirty="0"/>
              <a:t>HelloWorld </a:t>
            </a:r>
            <a:r>
              <a:rPr lang="zh-TW" altLang="en-US" sz="2000" dirty="0"/>
              <a:t>專案目錄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524B394-2E4D-9DF4-EDC5-497A8A405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944" y="2034186"/>
            <a:ext cx="1371791" cy="52394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BC0C0D9-2A20-24D9-85FB-43FAB5EE7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189" y="2714139"/>
            <a:ext cx="5880331" cy="43478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D0E01339-23FF-2A18-2774-EBA96A21D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605" y="3193507"/>
            <a:ext cx="3647168" cy="420827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BA7D767-CB7F-9988-CDF5-9997273E8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605" y="3714494"/>
            <a:ext cx="3260433" cy="36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40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Step3</a:t>
            </a:r>
            <a:r>
              <a:rPr lang="zh-TW" altLang="en-US" b="1" dirty="0">
                <a:latin typeface="+mj-ea"/>
              </a:rPr>
              <a:t>：專案設定（</a:t>
            </a:r>
            <a:r>
              <a:rPr lang="en-US" altLang="zh-TW" b="1" dirty="0" err="1">
                <a:latin typeface="+mj-ea"/>
              </a:rPr>
              <a:t>menuconfig</a:t>
            </a:r>
            <a:r>
              <a:rPr lang="zh-TW" altLang="en-US" b="1" dirty="0">
                <a:latin typeface="+mj-ea"/>
              </a:rPr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580928-EE7D-E6FB-D8DB-C3C6063B4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/>
          <a:lstStyle/>
          <a:p>
            <a:r>
              <a:rPr lang="zh-TW" altLang="en-US" dirty="0"/>
              <a:t>在專案根目錄執行</a:t>
            </a:r>
            <a:r>
              <a:rPr lang="en-US" altLang="zh-TW" dirty="0"/>
              <a:t>(c:\</a:t>
            </a:r>
            <a:r>
              <a:rPr lang="en-US" altLang="zh-TW" dirty="0" err="1"/>
              <a:t>esp</a:t>
            </a:r>
            <a:r>
              <a:rPr lang="en-US" altLang="zh-TW" dirty="0"/>
              <a:t>\2025_AIoT_1\</a:t>
            </a:r>
            <a:r>
              <a:rPr lang="en-US" altLang="zh-TW" dirty="0" err="1"/>
              <a:t>Project_Building</a:t>
            </a:r>
            <a:r>
              <a:rPr lang="en-US" altLang="zh-TW" dirty="0"/>
              <a:t>\</a:t>
            </a:r>
            <a:r>
              <a:rPr lang="en-US" altLang="zh-TW" dirty="0" err="1"/>
              <a:t>hello_world</a:t>
            </a:r>
            <a:r>
              <a:rPr lang="en-US" altLang="zh-TW" dirty="0"/>
              <a:t>)</a:t>
            </a:r>
            <a:r>
              <a:rPr lang="zh-TW" altLang="en-US" dirty="0"/>
              <a:t>：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B86DB3D-DD7F-6F4C-490C-1025AF384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39" y="2099701"/>
            <a:ext cx="3372321" cy="1419423"/>
          </a:xfrm>
          <a:prstGeom prst="rect">
            <a:avLst/>
          </a:prstGeom>
        </p:spPr>
      </p:pic>
      <p:pic>
        <p:nvPicPr>
          <p:cNvPr id="7170" name="Picture 2" descr="image">
            <a:extLst>
              <a:ext uri="{FF2B5EF4-FFF2-40B4-BE49-F238E27FC236}">
                <a16:creationId xmlns:a16="http://schemas.microsoft.com/office/drawing/2014/main" id="{2838B7D2-CE56-ECD3-315C-51B72E561A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362" y="1937534"/>
            <a:ext cx="6136199" cy="3163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D3D57A4-4218-DB43-3110-D28924558AE3}"/>
              </a:ext>
            </a:extLst>
          </p:cNvPr>
          <p:cNvSpPr txBox="1"/>
          <p:nvPr/>
        </p:nvSpPr>
        <p:spPr>
          <a:xfrm>
            <a:off x="677334" y="3760880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建議檢查項目：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499EC6E-CDC6-FD94-3F17-369BCB3EB9FC}"/>
              </a:ext>
            </a:extLst>
          </p:cNvPr>
          <p:cNvSpPr txBox="1"/>
          <p:nvPr/>
        </p:nvSpPr>
        <p:spPr>
          <a:xfrm>
            <a:off x="677334" y="4130212"/>
            <a:ext cx="6101080" cy="2684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b="1" dirty="0"/>
              <a:t>Serial flasher config</a:t>
            </a:r>
            <a:r>
              <a:rPr lang="en-US" altLang="zh-TW" dirty="0"/>
              <a:t> </a:t>
            </a:r>
          </a:p>
          <a:p>
            <a:pPr marL="742950" lvl="1" indent="-28575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dirty="0"/>
              <a:t>Flash baud rate</a:t>
            </a:r>
            <a:r>
              <a:rPr lang="zh-TW" altLang="en-US" dirty="0"/>
              <a:t>（可先維持預設）</a:t>
            </a: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altLang="zh-TW" b="1" dirty="0"/>
              <a:t>Serial Monitor</a:t>
            </a:r>
            <a:r>
              <a:rPr lang="en-US" altLang="zh-TW" dirty="0"/>
              <a:t> </a:t>
            </a:r>
          </a:p>
          <a:p>
            <a:pPr marL="742950" lvl="1" indent="-28575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TW" altLang="en-US" dirty="0"/>
              <a:t>預設 </a:t>
            </a:r>
            <a:r>
              <a:rPr lang="en-US" altLang="zh-TW" dirty="0"/>
              <a:t>UART / </a:t>
            </a:r>
            <a:r>
              <a:rPr lang="zh-TW" altLang="en-US" dirty="0"/>
              <a:t>監看埠（依實際板子連線情況）</a:t>
            </a: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TW" altLang="en-US" dirty="0"/>
              <a:t>其餘維持預設即可</a:t>
            </a:r>
          </a:p>
          <a:p>
            <a:pPr marL="285750" indent="-28575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zh-TW" altLang="en-US" dirty="0"/>
              <a:t>完成後按提示儲存並離開。</a:t>
            </a:r>
          </a:p>
        </p:txBody>
      </p:sp>
    </p:spTree>
    <p:extLst>
      <p:ext uri="{BB962C8B-B14F-4D97-AF65-F5344CB8AC3E}">
        <p14:creationId xmlns:p14="http://schemas.microsoft.com/office/powerpoint/2010/main" val="299065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Step4</a:t>
            </a:r>
            <a:r>
              <a:rPr lang="zh-TW" altLang="en-US" b="1" dirty="0">
                <a:latin typeface="+mj-ea"/>
              </a:rPr>
              <a:t>：專案編譯（</a:t>
            </a:r>
            <a:r>
              <a:rPr lang="en-US" altLang="zh-TW" b="1" dirty="0">
                <a:latin typeface="+mj-ea"/>
              </a:rPr>
              <a:t>Build</a:t>
            </a:r>
            <a:r>
              <a:rPr lang="zh-TW" altLang="en-US" b="1" dirty="0">
                <a:latin typeface="+mj-ea"/>
              </a:rPr>
              <a:t>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945233C-7AC3-5B34-C6C5-147720811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17" y="2023677"/>
            <a:ext cx="2247697" cy="623003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D5AF91E1-B78F-E108-3B04-992DF3565BF6}"/>
              </a:ext>
            </a:extLst>
          </p:cNvPr>
          <p:cNvSpPr txBox="1"/>
          <p:nvPr/>
        </p:nvSpPr>
        <p:spPr>
          <a:xfrm>
            <a:off x="677334" y="2853174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終端機出現類似訊息即成功：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C2AD16C5-8870-0ABC-89B2-803FA0C71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17" y="3429000"/>
            <a:ext cx="3057952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59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Step5</a:t>
            </a:r>
            <a:r>
              <a:rPr lang="zh-TW" altLang="en-US" b="1" dirty="0">
                <a:latin typeface="+mj-ea"/>
              </a:rPr>
              <a:t>：燒錄至開發板（</a:t>
            </a:r>
            <a:r>
              <a:rPr lang="en-US" altLang="zh-TW" b="1" dirty="0">
                <a:latin typeface="+mj-ea"/>
              </a:rPr>
              <a:t>Flash</a:t>
            </a:r>
            <a:r>
              <a:rPr lang="zh-TW" altLang="en-US" b="1" dirty="0">
                <a:latin typeface="+mj-ea"/>
              </a:rPr>
              <a:t>）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4667"/>
            <a:ext cx="8596668" cy="1320801"/>
          </a:xfrm>
        </p:spPr>
        <p:txBody>
          <a:bodyPr>
            <a:noAutofit/>
          </a:bodyPr>
          <a:lstStyle/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確認 </a:t>
            </a:r>
            <a:r>
              <a:rPr lang="en-US" altLang="zh-TW" sz="2000" dirty="0"/>
              <a:t>ESP32 </a:t>
            </a:r>
            <a:r>
              <a:rPr lang="zh-TW" altLang="en-US" sz="2000" dirty="0"/>
              <a:t>已透過 </a:t>
            </a:r>
            <a:r>
              <a:rPr lang="en-US" altLang="zh-TW" sz="2000" dirty="0"/>
              <a:t>USB </a:t>
            </a:r>
            <a:r>
              <a:rPr lang="zh-TW" altLang="en-US" sz="2000" dirty="0"/>
              <a:t>連接到 </a:t>
            </a:r>
            <a:r>
              <a:rPr lang="en-US" altLang="zh-TW" sz="2000" dirty="0"/>
              <a:t>Windows 11</a:t>
            </a:r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於「裝置管理員 → 連接埠 </a:t>
            </a:r>
            <a:r>
              <a:rPr lang="en-US" altLang="zh-TW" sz="2000" dirty="0"/>
              <a:t>(COM &amp; LPT)</a:t>
            </a:r>
            <a:r>
              <a:rPr lang="zh-TW" altLang="en-US" sz="2000" dirty="0"/>
              <a:t>」確認 </a:t>
            </a:r>
            <a:r>
              <a:rPr lang="en-US" altLang="zh-TW" sz="2000" dirty="0"/>
              <a:t>COM Port</a:t>
            </a:r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燒錄</a:t>
            </a:r>
            <a:endParaRPr lang="en-US" altLang="zh-TW" sz="2000" dirty="0"/>
          </a:p>
        </p:txBody>
      </p:sp>
      <p:pic>
        <p:nvPicPr>
          <p:cNvPr id="8195" name="Picture 3" descr="image">
            <a:extLst>
              <a:ext uri="{FF2B5EF4-FFF2-40B4-BE49-F238E27FC236}">
                <a16:creationId xmlns:a16="http://schemas.microsoft.com/office/drawing/2014/main" id="{7AA8CC1A-D261-159B-36B7-93C98FCFC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684" y="2476779"/>
            <a:ext cx="5635436" cy="4118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B35AFD9-0439-0A13-32C6-8221070ED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301" y="2476779"/>
            <a:ext cx="2705478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19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Step6</a:t>
            </a:r>
            <a:r>
              <a:rPr lang="zh-TW" altLang="en-US" b="1" dirty="0">
                <a:latin typeface="+mj-ea"/>
              </a:rPr>
              <a:t>：序列監看（</a:t>
            </a:r>
            <a:r>
              <a:rPr lang="en-US" altLang="zh-TW" b="1" dirty="0">
                <a:latin typeface="+mj-ea"/>
              </a:rPr>
              <a:t>Monitor</a:t>
            </a:r>
            <a:r>
              <a:rPr lang="zh-TW" altLang="en-US" b="1" dirty="0">
                <a:latin typeface="+mj-ea"/>
              </a:rPr>
              <a:t>）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4667"/>
            <a:ext cx="8596668" cy="1320801"/>
          </a:xfrm>
        </p:spPr>
        <p:txBody>
          <a:bodyPr>
            <a:noAutofit/>
          </a:bodyPr>
          <a:lstStyle/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查看</a:t>
            </a:r>
            <a:r>
              <a:rPr lang="en-US" altLang="zh-TW" sz="2000" dirty="0"/>
              <a:t>DEBUG</a:t>
            </a:r>
            <a:r>
              <a:rPr lang="zh-TW" altLang="en-US" sz="2000" dirty="0"/>
              <a:t>輸出</a:t>
            </a:r>
            <a:endParaRPr lang="en-US" altLang="zh-TW" sz="2000" dirty="0"/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看到類似輸出即成功：</a:t>
            </a:r>
            <a:endParaRPr lang="en-US" altLang="zh-TW" sz="2000" dirty="0"/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endParaRPr lang="en-US" altLang="zh-TW" sz="2000" dirty="0"/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endParaRPr lang="en-US" altLang="zh-TW" sz="2000" dirty="0"/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endParaRPr lang="en-US" altLang="zh-TW" sz="2000" dirty="0"/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離開監看模式快捷鍵：</a:t>
            </a:r>
            <a:endParaRPr lang="en-US" altLang="zh-TW" sz="20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94E8729-A22A-C563-132F-1EE4B9268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943" y="1428140"/>
            <a:ext cx="2915057" cy="58110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C580C46-F010-8D81-9DDA-840381E37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581165"/>
            <a:ext cx="4658375" cy="1219370"/>
          </a:xfrm>
          <a:prstGeom prst="rect">
            <a:avLst/>
          </a:prstGeom>
        </p:spPr>
      </p:pic>
      <p:pic>
        <p:nvPicPr>
          <p:cNvPr id="9218" name="Picture 2" descr="image">
            <a:extLst>
              <a:ext uri="{FF2B5EF4-FFF2-40B4-BE49-F238E27FC236}">
                <a16:creationId xmlns:a16="http://schemas.microsoft.com/office/drawing/2014/main" id="{00DD43BA-9D7B-4FC1-0B8D-0F6C72B85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4458" y="2125773"/>
            <a:ext cx="6005447" cy="3067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3681BA52-B8F5-A1BA-5B47-6E97819043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7897" y="4545609"/>
            <a:ext cx="2476846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38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Step7</a:t>
            </a:r>
            <a:r>
              <a:rPr lang="zh-TW" altLang="en-US" b="1" dirty="0">
                <a:latin typeface="+mj-ea"/>
              </a:rPr>
              <a:t>：程式碼位置與說明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4667"/>
            <a:ext cx="8596668" cy="1320801"/>
          </a:xfrm>
        </p:spPr>
        <p:txBody>
          <a:bodyPr>
            <a:noAutofit/>
          </a:bodyPr>
          <a:lstStyle/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altLang="zh-TW" sz="2000" dirty="0"/>
              <a:t>HelloWorld </a:t>
            </a:r>
            <a:r>
              <a:rPr lang="zh-TW" altLang="en-US" sz="2000" dirty="0"/>
              <a:t>主程式位於：</a:t>
            </a:r>
            <a:endParaRPr lang="en-US" altLang="zh-TW" sz="2000" dirty="0"/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altLang="zh-TW" sz="2000" dirty="0"/>
              <a:t>ESP-IDF </a:t>
            </a:r>
            <a:r>
              <a:rPr lang="zh-TW" altLang="en-US" sz="2000" dirty="0"/>
              <a:t>專案的進入點為 </a:t>
            </a:r>
            <a:r>
              <a:rPr lang="en-US" altLang="zh-TW" sz="2000" dirty="0" err="1"/>
              <a:t>app_main</a:t>
            </a:r>
            <a:r>
              <a:rPr lang="en-US" altLang="zh-TW" sz="2000" dirty="0"/>
              <a:t>()</a:t>
            </a:r>
            <a:r>
              <a:rPr lang="zh-TW" altLang="en-US" sz="2000" dirty="0"/>
              <a:t>，核心示意如下：</a:t>
            </a:r>
            <a:endParaRPr lang="en-US" altLang="zh-TW" sz="20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6F87035-CBBB-A56C-82A4-21B9C09A9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468" y="1467215"/>
            <a:ext cx="4610743" cy="60015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6D66EA02-65F3-AD3B-68CF-C32700290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891" y="2097854"/>
            <a:ext cx="4512454" cy="472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81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Step8</a:t>
            </a:r>
            <a:r>
              <a:rPr lang="zh-TW" altLang="en-US" b="1" dirty="0">
                <a:latin typeface="+mj-ea"/>
              </a:rPr>
              <a:t>：實作成果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4667"/>
            <a:ext cx="8596668" cy="1320801"/>
          </a:xfrm>
        </p:spPr>
        <p:txBody>
          <a:bodyPr>
            <a:noAutofit/>
          </a:bodyPr>
          <a:lstStyle/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成功使用 </a:t>
            </a:r>
            <a:r>
              <a:rPr lang="en-US" altLang="zh-TW" sz="2000" dirty="0"/>
              <a:t>Git clone </a:t>
            </a:r>
            <a:r>
              <a:rPr lang="zh-TW" altLang="en-US" sz="2000" dirty="0"/>
              <a:t>取得課程專案</a:t>
            </a:r>
            <a:endParaRPr lang="en-US" altLang="zh-TW" sz="2000" dirty="0"/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成功進入 </a:t>
            </a:r>
            <a:r>
              <a:rPr lang="en-US" altLang="zh-TW" sz="2000" dirty="0"/>
              <a:t>HelloWorld </a:t>
            </a:r>
            <a:r>
              <a:rPr lang="zh-TW" altLang="en-US" sz="2000" dirty="0"/>
              <a:t>專案目錄並完成 </a:t>
            </a:r>
            <a:r>
              <a:rPr lang="en-US" altLang="zh-TW" sz="2000" dirty="0" err="1"/>
              <a:t>menuconfig</a:t>
            </a:r>
            <a:endParaRPr lang="en-US" altLang="zh-TW" sz="2000" dirty="0"/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成功完成 </a:t>
            </a:r>
            <a:r>
              <a:rPr lang="en-US" altLang="zh-TW" sz="2000" dirty="0"/>
              <a:t>idf.py build</a:t>
            </a:r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成功完成 </a:t>
            </a:r>
            <a:r>
              <a:rPr lang="en-US" altLang="zh-TW" sz="2000" dirty="0"/>
              <a:t>idf.py flash</a:t>
            </a:r>
          </a:p>
          <a:p>
            <a:pPr algn="just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成功在 </a:t>
            </a:r>
            <a:r>
              <a:rPr lang="en-US" altLang="zh-TW" sz="2000" dirty="0"/>
              <a:t>idf.py monitor </a:t>
            </a:r>
            <a:r>
              <a:rPr lang="zh-TW" altLang="en-US" sz="2000" dirty="0"/>
              <a:t>看到 </a:t>
            </a:r>
            <a:r>
              <a:rPr lang="en-US" altLang="zh-TW" sz="2000" dirty="0"/>
              <a:t>HelloWorld </a:t>
            </a:r>
            <a:r>
              <a:rPr lang="zh-TW" altLang="en-US" sz="2000" dirty="0"/>
              <a:t>輸出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4235519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BDD73B-1E72-B1DC-C9D8-0A43406C2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8228"/>
            <a:ext cx="8596668" cy="1320800"/>
          </a:xfrm>
        </p:spPr>
        <p:txBody>
          <a:bodyPr/>
          <a:lstStyle/>
          <a:p>
            <a:r>
              <a:rPr lang="zh-TW" altLang="en-US" dirty="0"/>
              <a:t>燒錄</a:t>
            </a:r>
            <a:r>
              <a:rPr lang="en-US" altLang="zh-TW" dirty="0"/>
              <a:t>Factory</a:t>
            </a:r>
            <a:r>
              <a:rPr lang="zh-TW" altLang="en-US" dirty="0"/>
              <a:t>範例</a:t>
            </a:r>
            <a:br>
              <a:rPr lang="en-US" altLang="zh-TW" dirty="0"/>
            </a:br>
            <a:r>
              <a:rPr lang="zh-TW" altLang="en-US" dirty="0"/>
              <a:t>複製範例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D7AFF35-3C4C-E6E1-CF08-E418573FFD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253" y="2104324"/>
            <a:ext cx="8411749" cy="476316"/>
          </a:xfr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9FD8242-6D49-00F3-2705-D8ED47B2EA86}"/>
              </a:ext>
            </a:extLst>
          </p:cNvPr>
          <p:cNvSpPr txBox="1"/>
          <p:nvPr/>
        </p:nvSpPr>
        <p:spPr>
          <a:xfrm>
            <a:off x="862253" y="2949694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進入 </a:t>
            </a:r>
            <a:r>
              <a:rPr lang="en-US" altLang="zh-TW" dirty="0" err="1"/>
              <a:t>factory_demo</a:t>
            </a:r>
            <a:r>
              <a:rPr lang="en-US" altLang="zh-TW" dirty="0"/>
              <a:t> </a:t>
            </a:r>
            <a:r>
              <a:rPr lang="zh-TW" altLang="en-US" dirty="0"/>
              <a:t>專案目錄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BEEB64F-0D24-F971-51A3-CB0251642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253" y="3453577"/>
            <a:ext cx="10317015" cy="49536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D3AA734-0753-6F90-F844-F505B9178EC1}"/>
              </a:ext>
            </a:extLst>
          </p:cNvPr>
          <p:cNvSpPr txBox="1"/>
          <p:nvPr/>
        </p:nvSpPr>
        <p:spPr>
          <a:xfrm>
            <a:off x="862253" y="4308663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在專案目錄執行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1584F7EC-BD61-C08B-A3D4-639BA7292D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53" y="4817764"/>
            <a:ext cx="3324689" cy="1457528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F2821601-DBE4-60B2-8677-C9699050DA58}"/>
              </a:ext>
            </a:extLst>
          </p:cNvPr>
          <p:cNvSpPr txBox="1"/>
          <p:nvPr/>
        </p:nvSpPr>
        <p:spPr>
          <a:xfrm>
            <a:off x="862253" y="1605157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使用 </a:t>
            </a:r>
            <a:r>
              <a:rPr lang="en-US" altLang="zh-TW" dirty="0"/>
              <a:t>Git </a:t>
            </a:r>
            <a:r>
              <a:rPr lang="zh-TW" altLang="en-US" dirty="0"/>
              <a:t>複製範例</a:t>
            </a:r>
          </a:p>
        </p:txBody>
      </p:sp>
    </p:spTree>
    <p:extLst>
      <p:ext uri="{BB962C8B-B14F-4D97-AF65-F5344CB8AC3E}">
        <p14:creationId xmlns:p14="http://schemas.microsoft.com/office/powerpoint/2010/main" val="1043771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CDE99BF-3F48-2613-E694-59F49FC3E6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958628"/>
            <a:ext cx="10742646" cy="5589600"/>
          </a:xfr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2739B410-2C4E-2223-3122-08E5FDCB4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98228"/>
            <a:ext cx="8596668" cy="1320800"/>
          </a:xfrm>
        </p:spPr>
        <p:txBody>
          <a:bodyPr/>
          <a:lstStyle/>
          <a:p>
            <a:r>
              <a:rPr lang="zh-TW" altLang="en-US" dirty="0"/>
              <a:t>複製範例</a:t>
            </a:r>
            <a:r>
              <a:rPr lang="en-US" altLang="zh-TW" sz="2400" dirty="0"/>
              <a:t>(</a:t>
            </a:r>
            <a:r>
              <a:rPr lang="zh-TW" altLang="en-US" sz="2400" dirty="0"/>
              <a:t>續</a:t>
            </a:r>
            <a:r>
              <a:rPr lang="en-US" altLang="zh-TW" sz="2400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8238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93F6A3-E11E-44C0-B74F-E431F63A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專案編譯（</a:t>
            </a:r>
            <a:r>
              <a:rPr lang="en-US" altLang="zh-TW" dirty="0"/>
              <a:t>Build</a:t>
            </a:r>
            <a:r>
              <a:rPr lang="zh-TW" altLang="en-US" dirty="0"/>
              <a:t>）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4776E10-60F7-0C90-F6A6-0A283517E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080" y="702877"/>
            <a:ext cx="1686160" cy="485843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3D9F085-131F-2DB4-2DE1-0223992A816D}"/>
              </a:ext>
            </a:extLst>
          </p:cNvPr>
          <p:cNvSpPr txBox="1"/>
          <p:nvPr/>
        </p:nvSpPr>
        <p:spPr>
          <a:xfrm>
            <a:off x="677334" y="1533755"/>
            <a:ext cx="6101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終端機出現類似訊息即成功：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DE3283C-34F7-314E-8F7A-1488AAB83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4715" y="1413578"/>
            <a:ext cx="3143689" cy="609685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4AC39E47-8EFB-7C72-70D5-45DBDBEAE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34" y="2155258"/>
            <a:ext cx="11098174" cy="448690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AA40FD51-4682-F369-19D6-7B0D7F390461}"/>
              </a:ext>
            </a:extLst>
          </p:cNvPr>
          <p:cNvSpPr/>
          <p:nvPr/>
        </p:nvSpPr>
        <p:spPr>
          <a:xfrm>
            <a:off x="508000" y="4804259"/>
            <a:ext cx="2275840" cy="2452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917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D4DE77-3657-7E1A-3927-F191DACAC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1760"/>
            <a:ext cx="8596668" cy="1320800"/>
          </a:xfrm>
        </p:spPr>
        <p:txBody>
          <a:bodyPr/>
          <a:lstStyle/>
          <a:p>
            <a:r>
              <a:rPr lang="zh-TW" altLang="en-US" dirty="0"/>
              <a:t>燒錄至開發板（</a:t>
            </a:r>
            <a:r>
              <a:rPr lang="en-US" altLang="zh-TW" dirty="0"/>
              <a:t>Flash</a:t>
            </a:r>
            <a:r>
              <a:rPr lang="zh-TW" altLang="en-US" dirty="0"/>
              <a:t>）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E0AD8B-7CD1-B45C-20B7-1BB5B9603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38" y="848202"/>
            <a:ext cx="8596668" cy="928051"/>
          </a:xfrm>
        </p:spPr>
        <p:txBody>
          <a:bodyPr/>
          <a:lstStyle/>
          <a:p>
            <a:r>
              <a:rPr lang="zh-TW" altLang="en-US" dirty="0"/>
              <a:t>確認 </a:t>
            </a:r>
            <a:r>
              <a:rPr lang="en-US" altLang="zh-TW" dirty="0"/>
              <a:t>ESP32 </a:t>
            </a:r>
            <a:r>
              <a:rPr lang="zh-TW" altLang="en-US" dirty="0"/>
              <a:t>已透過 </a:t>
            </a:r>
            <a:r>
              <a:rPr lang="en-US" altLang="zh-TW" dirty="0"/>
              <a:t>USB </a:t>
            </a:r>
            <a:r>
              <a:rPr lang="zh-TW" altLang="en-US" dirty="0"/>
              <a:t>連接到 </a:t>
            </a:r>
            <a:r>
              <a:rPr lang="en-US" altLang="zh-TW" dirty="0"/>
              <a:t>Windows 11</a:t>
            </a:r>
          </a:p>
          <a:p>
            <a:r>
              <a:rPr lang="zh-TW" altLang="en-US" dirty="0"/>
              <a:t>於「裝置管理員 → 連接埠 </a:t>
            </a:r>
            <a:r>
              <a:rPr lang="en-US" altLang="zh-TW" dirty="0"/>
              <a:t>(COM &amp; LPT)</a:t>
            </a:r>
            <a:r>
              <a:rPr lang="zh-TW" altLang="en-US" dirty="0"/>
              <a:t>」確認 </a:t>
            </a:r>
            <a:r>
              <a:rPr lang="en-US" altLang="zh-TW" dirty="0"/>
              <a:t>COM Port</a:t>
            </a:r>
            <a:endParaRPr lang="zh-TW" altLang="en-US" dirty="0"/>
          </a:p>
        </p:txBody>
      </p:sp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FE9279A1-1577-9C7F-D3BC-A5F7187A87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198"/>
          <a:stretch/>
        </p:blipFill>
        <p:spPr bwMode="auto">
          <a:xfrm>
            <a:off x="1905952" y="1625599"/>
            <a:ext cx="8380095" cy="476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69C8DB8-EAF9-D500-D93B-D4442028F39F}"/>
              </a:ext>
            </a:extLst>
          </p:cNvPr>
          <p:cNvSpPr/>
          <p:nvPr/>
        </p:nvSpPr>
        <p:spPr>
          <a:xfrm>
            <a:off x="2265680" y="5606899"/>
            <a:ext cx="2275840" cy="2452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587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C5E50A-F1AF-5178-4641-71D91FC59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燒錄至開發板（</a:t>
            </a:r>
            <a:r>
              <a:rPr lang="en-US" altLang="zh-TW" dirty="0"/>
              <a:t>Flash</a:t>
            </a:r>
            <a:r>
              <a:rPr lang="zh-TW" altLang="en-US" dirty="0"/>
              <a:t>）</a:t>
            </a: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C252D3C5-57B8-F47D-E5FD-30ABB7A928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2480" y="1930400"/>
            <a:ext cx="7701144" cy="4617921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5D629B4-6FF8-02A1-4969-C5E357B95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36" y="1379193"/>
            <a:ext cx="2600688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25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B028AB-7561-44DC-5658-05EEA0143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214" y="375920"/>
            <a:ext cx="8596668" cy="1320800"/>
          </a:xfrm>
        </p:spPr>
        <p:txBody>
          <a:bodyPr/>
          <a:lstStyle/>
          <a:p>
            <a:r>
              <a:rPr lang="zh-TW" altLang="en-US" dirty="0"/>
              <a:t>燒錄至開發板（</a:t>
            </a:r>
            <a:r>
              <a:rPr lang="en-US" altLang="zh-TW" dirty="0"/>
              <a:t>Flash</a:t>
            </a:r>
            <a:r>
              <a:rPr lang="zh-TW" altLang="en-US" dirty="0"/>
              <a:t>）</a:t>
            </a:r>
          </a:p>
        </p:txBody>
      </p:sp>
      <p:pic>
        <p:nvPicPr>
          <p:cNvPr id="3074" name="Picture 2" descr="S__41615390">
            <a:extLst>
              <a:ext uri="{FF2B5EF4-FFF2-40B4-BE49-F238E27FC236}">
                <a16:creationId xmlns:a16="http://schemas.microsoft.com/office/drawing/2014/main" id="{A7843374-ED2A-0C38-646B-7F3037F929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6559" y="1161063"/>
            <a:ext cx="5138882" cy="542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07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Step1</a:t>
            </a:r>
            <a:r>
              <a:rPr lang="zh-TW" altLang="en-US" b="1" dirty="0">
                <a:latin typeface="+mj-ea"/>
              </a:rPr>
              <a:t>：選定</a:t>
            </a:r>
            <a:r>
              <a:rPr lang="en-US" altLang="zh-TW" b="1" dirty="0">
                <a:latin typeface="+mj-ea"/>
              </a:rPr>
              <a:t>Dataset</a:t>
            </a:r>
            <a:endParaRPr lang="zh-TW" altLang="en-US" b="1" dirty="0">
              <a:latin typeface="+mj-ea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4667"/>
            <a:ext cx="8596668" cy="1320801"/>
          </a:xfrm>
        </p:spPr>
        <p:txBody>
          <a:bodyPr>
            <a:no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我們選擇以水果作為目標</a:t>
            </a:r>
            <a:br>
              <a:rPr lang="zh-TW" altLang="en-US" sz="2000" dirty="0"/>
            </a:br>
            <a:r>
              <a:rPr lang="en-US" altLang="zh-TW" sz="2000" dirty="0">
                <a:hlinkClick r:id="rId2"/>
              </a:rPr>
              <a:t>https://universe.roboflow.com/object-detection-fruit/fruit-smrhb</a:t>
            </a:r>
            <a:endParaRPr lang="en-US" altLang="zh-TW" sz="2000" dirty="0"/>
          </a:p>
        </p:txBody>
      </p:sp>
      <p:pic>
        <p:nvPicPr>
          <p:cNvPr id="12290" name="Picture 2" descr="image">
            <a:extLst>
              <a:ext uri="{FF2B5EF4-FFF2-40B4-BE49-F238E27FC236}">
                <a16:creationId xmlns:a16="http://schemas.microsoft.com/office/drawing/2014/main" id="{B718FB78-1DC8-00F2-BCCC-59C1CB235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070" y="2276187"/>
            <a:ext cx="9861860" cy="445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350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Step2</a:t>
            </a:r>
            <a:r>
              <a:rPr lang="zh-TW" altLang="en-US" b="1" dirty="0">
                <a:latin typeface="+mj-ea"/>
              </a:rPr>
              <a:t>：</a:t>
            </a:r>
            <a:r>
              <a:rPr lang="en-US" altLang="zh-TW" b="1" dirty="0">
                <a:latin typeface="+mj-ea"/>
              </a:rPr>
              <a:t>Dataset</a:t>
            </a:r>
            <a:r>
              <a:rPr lang="zh-TW" altLang="en-US" b="1" dirty="0">
                <a:latin typeface="+mj-ea"/>
              </a:rPr>
              <a:t>上傳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4667"/>
            <a:ext cx="8596668" cy="1320801"/>
          </a:xfrm>
        </p:spPr>
        <p:txBody>
          <a:bodyPr>
            <a:no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將</a:t>
            </a:r>
            <a:r>
              <a:rPr lang="en-US" altLang="zh-TW" sz="2000" dirty="0"/>
              <a:t>dataset</a:t>
            </a:r>
            <a:r>
              <a:rPr lang="zh-TW" altLang="en-US" sz="2000" dirty="0"/>
              <a:t>以</a:t>
            </a:r>
            <a:r>
              <a:rPr lang="en-US" altLang="zh-TW" sz="2000" dirty="0"/>
              <a:t>zip</a:t>
            </a:r>
            <a:r>
              <a:rPr lang="zh-TW" altLang="en-US" sz="2000" dirty="0"/>
              <a:t>上傳到</a:t>
            </a:r>
            <a:r>
              <a:rPr lang="en-US" altLang="zh-TW" sz="2000" dirty="0"/>
              <a:t>s3</a:t>
            </a:r>
            <a:r>
              <a:rPr lang="zh-TW" altLang="en-US" sz="2000" dirty="0"/>
              <a:t>中的指定位置</a:t>
            </a:r>
            <a:endParaRPr lang="en-US" altLang="zh-TW" sz="2000" dirty="0"/>
          </a:p>
        </p:txBody>
      </p:sp>
      <p:pic>
        <p:nvPicPr>
          <p:cNvPr id="13314" name="Picture 2" descr="image">
            <a:extLst>
              <a:ext uri="{FF2B5EF4-FFF2-40B4-BE49-F238E27FC236}">
                <a16:creationId xmlns:a16="http://schemas.microsoft.com/office/drawing/2014/main" id="{0700D123-69D7-B44C-128E-3A605A81D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2205067"/>
            <a:ext cx="8603563" cy="3712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image">
            <a:extLst>
              <a:ext uri="{FF2B5EF4-FFF2-40B4-BE49-F238E27FC236}">
                <a16:creationId xmlns:a16="http://schemas.microsoft.com/office/drawing/2014/main" id="{33B95BFA-5DB5-FFE9-17E2-F219B18B4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6951" y="3313114"/>
            <a:ext cx="36734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0788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Step3</a:t>
            </a:r>
            <a:r>
              <a:rPr lang="zh-TW" altLang="en-US" b="1" dirty="0">
                <a:latin typeface="+mj-ea"/>
              </a:rPr>
              <a:t>：修改範例訓練用腳本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2587"/>
            <a:ext cx="8596668" cy="1320801"/>
          </a:xfrm>
        </p:spPr>
        <p:txBody>
          <a:bodyPr>
            <a:no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參數設定</a:t>
            </a:r>
            <a:endParaRPr lang="en-US" altLang="zh-TW" sz="2000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9B1A8F7-FA80-B1DD-62C1-CED2EDFEA688}"/>
              </a:ext>
            </a:extLst>
          </p:cNvPr>
          <p:cNvSpPr txBox="1"/>
          <p:nvPr/>
        </p:nvSpPr>
        <p:spPr>
          <a:xfrm>
            <a:off x="503766" y="1930400"/>
            <a:ext cx="5897034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600" dirty="0"/>
              <a:t># ====== 你要改的地方 ======</a:t>
            </a:r>
          </a:p>
          <a:p>
            <a:r>
              <a:rPr lang="zh-TW" altLang="en-US" sz="1600" dirty="0"/>
              <a:t>S3_DATA_ZIP = ‘s3://2025team7/Fruit.v7i.yolov1 1.zip'  # &lt;&lt;&lt;&lt;&lt;&lt; 改成你的資料集</a:t>
            </a:r>
          </a:p>
          <a:p>
            <a:r>
              <a:rPr lang="zh-TW" altLang="en-US" sz="1600" dirty="0"/>
              <a:t>DATA_ZIP_FILENAME = 'Fruit.v7i.yolov11.zip'                     # zip 檔名</a:t>
            </a:r>
          </a:p>
          <a:p>
            <a:endParaRPr lang="zh-TW" altLang="en-US" sz="1600" dirty="0"/>
          </a:p>
          <a:p>
            <a:r>
              <a:rPr lang="zh-TW" altLang="en-US" sz="1600" dirty="0"/>
              <a:t># 類別名稱（請改成你的 classes）</a:t>
            </a:r>
          </a:p>
          <a:p>
            <a:r>
              <a:rPr lang="zh-TW" altLang="en-US" sz="1600" dirty="0"/>
              <a:t>CLASS_NAMES = ['apple', 'banana', 'grape', 'kiwi', 'lemon', 'orange', 'peach', 'pineapple', 'strawberry', 'watermelon']</a:t>
            </a:r>
          </a:p>
          <a:p>
            <a:endParaRPr lang="zh-TW" altLang="en-US" sz="1600" dirty="0"/>
          </a:p>
          <a:p>
            <a:r>
              <a:rPr lang="zh-TW" altLang="en-US" sz="1600" dirty="0"/>
              <a:t># YOLO11 權重（可改 yolo11s.pt / yolo11m.pt / yolo11l.pt / yolo11x.pt）</a:t>
            </a:r>
          </a:p>
          <a:p>
            <a:r>
              <a:rPr lang="zh-TW" altLang="en-US" sz="1600" dirty="0"/>
              <a:t>YOLO_MODEL = 'yolo11n.pt'</a:t>
            </a:r>
          </a:p>
          <a:p>
            <a:endParaRPr lang="zh-TW" altLang="en-US" sz="1600" dirty="0"/>
          </a:p>
          <a:p>
            <a:r>
              <a:rPr lang="zh-TW" altLang="en-US" sz="1600" dirty="0"/>
              <a:t># 訓練超參數</a:t>
            </a:r>
          </a:p>
          <a:p>
            <a:r>
              <a:rPr lang="zh-TW" altLang="en-US" sz="1600" dirty="0"/>
              <a:t>EPOCHS = 50</a:t>
            </a:r>
          </a:p>
          <a:p>
            <a:r>
              <a:rPr lang="zh-TW" altLang="en-US" sz="1600" dirty="0"/>
              <a:t>IMGSZ = 640</a:t>
            </a:r>
          </a:p>
          <a:p>
            <a:r>
              <a:rPr lang="zh-TW" altLang="en-US" sz="1600" dirty="0"/>
              <a:t>BATCH = 16</a:t>
            </a:r>
          </a:p>
          <a:p>
            <a:r>
              <a:rPr lang="zh-TW" altLang="en-US" sz="1600" dirty="0"/>
              <a:t>WORKERS = 4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3262BEE-F5A5-CCD7-079A-8F4028853D7B}"/>
              </a:ext>
            </a:extLst>
          </p:cNvPr>
          <p:cNvSpPr txBox="1"/>
          <p:nvPr/>
        </p:nvSpPr>
        <p:spPr>
          <a:xfrm>
            <a:off x="6400800" y="1720840"/>
            <a:ext cx="61569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TW" altLang="en-US" sz="1800" dirty="0"/>
          </a:p>
          <a:p>
            <a:r>
              <a:rPr lang="zh-TW" altLang="en-US" sz="1800" dirty="0"/>
              <a:t># 訓練硬體（推薦 GPU：g5 / g4dn）</a:t>
            </a:r>
          </a:p>
          <a:p>
            <a:r>
              <a:rPr lang="zh-TW" altLang="en-US" sz="1800" dirty="0"/>
              <a:t>INSTANCE_TYPE = 'ml.g5.2xlarge'</a:t>
            </a:r>
          </a:p>
          <a:p>
            <a:r>
              <a:rPr lang="zh-TW" altLang="en-US" sz="1800" dirty="0"/>
              <a:t>INSTANCE_COUNT = 1</a:t>
            </a:r>
          </a:p>
          <a:p>
            <a:endParaRPr lang="zh-TW" altLang="en-US" sz="1800" dirty="0"/>
          </a:p>
          <a:p>
            <a:r>
              <a:rPr lang="zh-TW" altLang="en-US" sz="1800" dirty="0"/>
              <a:t># 輸出到 S3</a:t>
            </a:r>
          </a:p>
          <a:p>
            <a:r>
              <a:rPr lang="zh-TW" altLang="en-US" sz="1800" dirty="0"/>
              <a:t>OUTPUT_S3 = f"s3://2025team7/yolo11/output/"</a:t>
            </a:r>
          </a:p>
          <a:p>
            <a:endParaRPr lang="zh-TW" altLang="en-US" sz="1800" dirty="0"/>
          </a:p>
          <a:p>
            <a:r>
              <a:rPr lang="zh-TW" altLang="en-US" sz="1800" dirty="0"/>
              <a:t>print('S3_DATA_ZIP:', S3_DATA_ZIP)</a:t>
            </a:r>
          </a:p>
          <a:p>
            <a:r>
              <a:rPr lang="zh-TW" altLang="en-US" sz="1800" dirty="0"/>
              <a:t>print('OUTPUT_S3:', OUTPUT_S3)</a:t>
            </a:r>
          </a:p>
          <a:p>
            <a:endParaRPr lang="zh-TW" altLang="en-US" sz="1800" dirty="0"/>
          </a:p>
          <a:p>
            <a:r>
              <a:rPr lang="zh-TW" altLang="en-US" sz="1800" dirty="0"/>
              <a:t>print('Classes:', len(CLASS_NAMES), '個水果類別')</a:t>
            </a:r>
          </a:p>
        </p:txBody>
      </p:sp>
    </p:spTree>
    <p:extLst>
      <p:ext uri="{BB962C8B-B14F-4D97-AF65-F5344CB8AC3E}">
        <p14:creationId xmlns:p14="http://schemas.microsoft.com/office/powerpoint/2010/main" val="158556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Step3</a:t>
            </a:r>
            <a:r>
              <a:rPr lang="zh-TW" altLang="en-US" b="1" dirty="0">
                <a:latin typeface="+mj-ea"/>
              </a:rPr>
              <a:t>：修改範例訓練用腳本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2587"/>
            <a:ext cx="8596668" cy="1320801"/>
          </a:xfrm>
        </p:spPr>
        <p:txBody>
          <a:bodyPr>
            <a:noAutofit/>
          </a:bodyPr>
          <a:lstStyle/>
          <a:p>
            <a:pPr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zh-TW" altLang="en-US" sz="2000" dirty="0"/>
              <a:t>參數設定</a:t>
            </a:r>
            <a:endParaRPr lang="en-US" altLang="zh-TW" sz="2000" dirty="0"/>
          </a:p>
        </p:txBody>
      </p:sp>
      <p:pic>
        <p:nvPicPr>
          <p:cNvPr id="14338" name="Picture 2" descr="image">
            <a:extLst>
              <a:ext uri="{FF2B5EF4-FFF2-40B4-BE49-F238E27FC236}">
                <a16:creationId xmlns:a16="http://schemas.microsoft.com/office/drawing/2014/main" id="{D129FD09-17E7-A86B-2403-83C3C3E9B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26" y="2066896"/>
            <a:ext cx="11115040" cy="4437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833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Step3</a:t>
            </a:r>
            <a:r>
              <a:rPr lang="zh-TW" altLang="en-US" b="1" dirty="0">
                <a:latin typeface="+mj-ea"/>
              </a:rPr>
              <a:t>：修改範例訓練用腳本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2587"/>
            <a:ext cx="8596668" cy="1320801"/>
          </a:xfrm>
        </p:spPr>
        <p:txBody>
          <a:bodyPr>
            <a:noAutofit/>
          </a:bodyPr>
          <a:lstStyle/>
          <a:p>
            <a:pPr marL="0" indent="0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None/>
            </a:pPr>
            <a:r>
              <a:rPr lang="en-US" altLang="zh-TW" sz="2000" dirty="0"/>
              <a:t>(2) </a:t>
            </a:r>
            <a:r>
              <a:rPr lang="zh-TW" altLang="en-US" sz="2000" dirty="0"/>
              <a:t>生成訓練程式碼（</a:t>
            </a:r>
            <a:r>
              <a:rPr lang="en-US" altLang="zh-TW" sz="2000" dirty="0">
                <a:hlinkClick r:id="rId2"/>
              </a:rPr>
              <a:t>train.py</a:t>
            </a:r>
            <a:r>
              <a:rPr lang="zh-TW" altLang="en-US" sz="2000" dirty="0"/>
              <a:t>）與 </a:t>
            </a:r>
            <a:r>
              <a:rPr lang="en-US" altLang="zh-TW" sz="2000" dirty="0"/>
              <a:t>requirements.txt</a:t>
            </a:r>
          </a:p>
        </p:txBody>
      </p:sp>
      <p:pic>
        <p:nvPicPr>
          <p:cNvPr id="15362" name="Picture 2" descr="image">
            <a:extLst>
              <a:ext uri="{FF2B5EF4-FFF2-40B4-BE49-F238E27FC236}">
                <a16:creationId xmlns:a16="http://schemas.microsoft.com/office/drawing/2014/main" id="{19EBB107-C79C-ED85-9D9A-46097F76E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" y="2072640"/>
            <a:ext cx="11511280" cy="4315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958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Step3</a:t>
            </a:r>
            <a:r>
              <a:rPr lang="zh-TW" altLang="en-US" b="1" dirty="0">
                <a:latin typeface="+mj-ea"/>
              </a:rPr>
              <a:t>：修改範例訓練用腳本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12587"/>
            <a:ext cx="8596668" cy="1320801"/>
          </a:xfrm>
        </p:spPr>
        <p:txBody>
          <a:bodyPr>
            <a:noAutofit/>
          </a:bodyPr>
          <a:lstStyle/>
          <a:p>
            <a:pPr marL="0" indent="0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None/>
            </a:pPr>
            <a:r>
              <a:rPr lang="en-US" altLang="zh-TW" sz="2000" dirty="0"/>
              <a:t>(3) </a:t>
            </a:r>
            <a:r>
              <a:rPr lang="zh-TW" altLang="en-US" sz="2000" dirty="0"/>
              <a:t>建立 </a:t>
            </a:r>
            <a:r>
              <a:rPr lang="en-US" altLang="zh-TW" sz="2000" dirty="0"/>
              <a:t>Estimator </a:t>
            </a:r>
            <a:r>
              <a:rPr lang="zh-TW" altLang="en-US" sz="2000" dirty="0"/>
              <a:t>並啟動 </a:t>
            </a:r>
            <a:r>
              <a:rPr lang="en-US" altLang="zh-TW" sz="2000" dirty="0"/>
              <a:t>Training Job</a:t>
            </a:r>
            <a:r>
              <a:rPr lang="zh-TW" altLang="en-US" sz="2000" dirty="0"/>
              <a:t>（非阻塞）</a:t>
            </a:r>
            <a:endParaRPr lang="en-US" altLang="zh-TW" sz="2000" dirty="0"/>
          </a:p>
        </p:txBody>
      </p:sp>
      <p:pic>
        <p:nvPicPr>
          <p:cNvPr id="16386" name="Picture 2" descr="image">
            <a:extLst>
              <a:ext uri="{FF2B5EF4-FFF2-40B4-BE49-F238E27FC236}">
                <a16:creationId xmlns:a16="http://schemas.microsoft.com/office/drawing/2014/main" id="{8883B1E8-B401-4BA7-6CFB-F7F6B330C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40" y="1930400"/>
            <a:ext cx="10728960" cy="451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67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Step3</a:t>
            </a:r>
            <a:r>
              <a:rPr lang="zh-TW" altLang="en-US" b="1" dirty="0">
                <a:latin typeface="+mj-ea"/>
              </a:rPr>
              <a:t>：修改範例訓練用腳本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78907"/>
            <a:ext cx="8596668" cy="1320801"/>
          </a:xfrm>
        </p:spPr>
        <p:txBody>
          <a:bodyPr>
            <a:noAutofit/>
          </a:bodyPr>
          <a:lstStyle/>
          <a:p>
            <a:pPr marL="0" indent="0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None/>
            </a:pPr>
            <a:r>
              <a:rPr lang="en-US" altLang="zh-TW" sz="2000" dirty="0"/>
              <a:t>(4) </a:t>
            </a:r>
            <a:r>
              <a:rPr lang="zh-TW" altLang="en-US" sz="2000" dirty="0"/>
              <a:t>動態顯示訓練過程與收斂曲線（即時）</a:t>
            </a:r>
            <a:endParaRPr lang="en-US" altLang="zh-TW" sz="2000" dirty="0"/>
          </a:p>
        </p:txBody>
      </p:sp>
      <p:pic>
        <p:nvPicPr>
          <p:cNvPr id="17410" name="Picture 2" descr="image">
            <a:extLst>
              <a:ext uri="{FF2B5EF4-FFF2-40B4-BE49-F238E27FC236}">
                <a16:creationId xmlns:a16="http://schemas.microsoft.com/office/drawing/2014/main" id="{B9C439A4-B572-C7F0-483E-84C9FEDF8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" y="1652875"/>
            <a:ext cx="11515725" cy="4943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555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Step3</a:t>
            </a:r>
            <a:r>
              <a:rPr lang="zh-TW" altLang="en-US" b="1" dirty="0">
                <a:latin typeface="+mj-ea"/>
              </a:rPr>
              <a:t>：修改範例訓練用腳本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78907"/>
            <a:ext cx="8596668" cy="1320801"/>
          </a:xfrm>
        </p:spPr>
        <p:txBody>
          <a:bodyPr>
            <a:noAutofit/>
          </a:bodyPr>
          <a:lstStyle/>
          <a:p>
            <a:pPr marL="0" indent="0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None/>
            </a:pPr>
            <a:r>
              <a:rPr lang="en-US" altLang="zh-TW" sz="2000" dirty="0"/>
              <a:t>(5) </a:t>
            </a:r>
            <a:r>
              <a:rPr lang="zh-TW" altLang="en-US" sz="2000" dirty="0"/>
              <a:t>下載 </a:t>
            </a:r>
            <a:r>
              <a:rPr lang="en-US" altLang="zh-TW" sz="2000" dirty="0"/>
              <a:t>artifacts </a:t>
            </a:r>
            <a:r>
              <a:rPr lang="zh-TW" altLang="en-US" sz="2000" dirty="0"/>
              <a:t>並畫出完整收斂曲線（</a:t>
            </a:r>
            <a:r>
              <a:rPr lang="en-US" altLang="zh-TW" sz="2000" dirty="0"/>
              <a:t>results.csv / results.png</a:t>
            </a:r>
            <a:r>
              <a:rPr lang="zh-TW" altLang="en-US" sz="2000" dirty="0"/>
              <a:t>）</a:t>
            </a:r>
            <a:endParaRPr lang="en-US" altLang="zh-TW" sz="2000" dirty="0"/>
          </a:p>
          <a:p>
            <a:pPr>
              <a:lnSpc>
                <a:spcPts val="2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TW" sz="2000" dirty="0"/>
              <a:t>Final status: Completed </a:t>
            </a:r>
          </a:p>
          <a:p>
            <a:pPr>
              <a:lnSpc>
                <a:spcPts val="2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TW" sz="2000" dirty="0"/>
              <a:t>Model artifact: s3://2025team7/yolo11/output/yolo11-train-1767602003/output/model.tar.gz</a:t>
            </a:r>
          </a:p>
          <a:p>
            <a:pPr>
              <a:lnSpc>
                <a:spcPts val="2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TW" sz="2000" dirty="0"/>
              <a:t>Downloaded: artifacts/yolo11-train-1767602003/model.tar.gz </a:t>
            </a:r>
          </a:p>
          <a:p>
            <a:pPr>
              <a:lnSpc>
                <a:spcPts val="2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TW" sz="2000" dirty="0"/>
              <a:t>best.pt exists: True </a:t>
            </a:r>
          </a:p>
          <a:p>
            <a:pPr>
              <a:lnSpc>
                <a:spcPts val="2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TW" sz="2000" dirty="0"/>
              <a:t>results.png exists: True </a:t>
            </a:r>
          </a:p>
          <a:p>
            <a:pPr>
              <a:lnSpc>
                <a:spcPts val="2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TW" sz="2000" dirty="0"/>
              <a:t>results.csv exists: True</a:t>
            </a:r>
          </a:p>
        </p:txBody>
      </p:sp>
      <p:pic>
        <p:nvPicPr>
          <p:cNvPr id="18434" name="Picture 2" descr="image">
            <a:extLst>
              <a:ext uri="{FF2B5EF4-FFF2-40B4-BE49-F238E27FC236}">
                <a16:creationId xmlns:a16="http://schemas.microsoft.com/office/drawing/2014/main" id="{16EE0F7C-01C6-905E-5E3F-69E9984FB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6240" y="3069015"/>
            <a:ext cx="7863840" cy="3694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200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10DD0-C653-19EA-09C3-D91F42D6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latin typeface="+mj-ea"/>
              </a:rPr>
              <a:t>Step3</a:t>
            </a:r>
            <a:r>
              <a:rPr lang="zh-TW" altLang="en-US" b="1" dirty="0">
                <a:latin typeface="+mj-ea"/>
              </a:rPr>
              <a:t>：修改範例訓練用腳本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7BE2C8D7-FC34-3D87-F41B-4EC95CA5F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78907"/>
            <a:ext cx="8596668" cy="1320801"/>
          </a:xfrm>
        </p:spPr>
        <p:txBody>
          <a:bodyPr>
            <a:noAutofit/>
          </a:bodyPr>
          <a:lstStyle/>
          <a:p>
            <a:pPr marL="0" indent="0">
              <a:lnSpc>
                <a:spcPts val="2700"/>
              </a:lnSpc>
              <a:spcBef>
                <a:spcPts val="600"/>
              </a:spcBef>
              <a:spcAft>
                <a:spcPts val="600"/>
              </a:spcAft>
              <a:buSzPct val="100000"/>
              <a:buNone/>
            </a:pPr>
            <a:r>
              <a:rPr lang="en-US" altLang="zh-TW" sz="2000" dirty="0"/>
              <a:t>(6) </a:t>
            </a:r>
            <a:r>
              <a:rPr lang="zh-TW" altLang="en-US" sz="2000" dirty="0"/>
              <a:t>視覺化推論（</a:t>
            </a:r>
            <a:r>
              <a:rPr lang="en-US" altLang="zh-TW" sz="2000" dirty="0"/>
              <a:t>Visualized Inference</a:t>
            </a:r>
            <a:r>
              <a:rPr lang="zh-TW" altLang="en-US" sz="2000" dirty="0"/>
              <a:t>）</a:t>
            </a:r>
            <a:endParaRPr lang="en-US" altLang="zh-TW" sz="2000" dirty="0"/>
          </a:p>
        </p:txBody>
      </p:sp>
      <p:pic>
        <p:nvPicPr>
          <p:cNvPr id="19458" name="Picture 2" descr="未命名">
            <a:extLst>
              <a:ext uri="{FF2B5EF4-FFF2-40B4-BE49-F238E27FC236}">
                <a16:creationId xmlns:a16="http://schemas.microsoft.com/office/drawing/2014/main" id="{C44A0F52-0B4C-B679-CBA1-59407CA9F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219" y="1724343"/>
            <a:ext cx="10001561" cy="4930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1288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FFAB45F-C6D2-2805-8508-E4E405A39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666" y="1837267"/>
            <a:ext cx="8596668" cy="1826581"/>
          </a:xfrm>
        </p:spPr>
        <p:txBody>
          <a:bodyPr>
            <a:normAutofit/>
          </a:bodyPr>
          <a:lstStyle/>
          <a:p>
            <a:pPr algn="ctr"/>
            <a:r>
              <a:rPr lang="zh-TW" altLang="en-US" sz="4800" dirty="0"/>
              <a:t>謝謝聆聽</a:t>
            </a:r>
          </a:p>
        </p:txBody>
      </p:sp>
    </p:spTree>
    <p:extLst>
      <p:ext uri="{BB962C8B-B14F-4D97-AF65-F5344CB8AC3E}">
        <p14:creationId xmlns:p14="http://schemas.microsoft.com/office/powerpoint/2010/main" val="1513804614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232</TotalTime>
  <Words>958</Words>
  <Application>Microsoft Office PowerPoint</Application>
  <PresentationFormat>寬螢幕</PresentationFormat>
  <Paragraphs>114</Paragraphs>
  <Slides>26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1" baseType="lpstr">
      <vt:lpstr>Arial</vt:lpstr>
      <vt:lpstr>Trebuchet MS</vt:lpstr>
      <vt:lpstr>Wingdings</vt:lpstr>
      <vt:lpstr>Wingdings 3</vt:lpstr>
      <vt:lpstr>多面向</vt:lpstr>
      <vt:lpstr>深度學習與類神經網路</vt:lpstr>
      <vt:lpstr>目的</vt:lpstr>
      <vt:lpstr>Step1：開發環境設定</vt:lpstr>
      <vt:lpstr>Step2：建立專案(Project Building)</vt:lpstr>
      <vt:lpstr>Step3：專案設定（menuconfig）</vt:lpstr>
      <vt:lpstr>Step4：專案編譯（Build）</vt:lpstr>
      <vt:lpstr>Step5：燒錄至開發板（Flash）</vt:lpstr>
      <vt:lpstr>Step6：序列監看（Monitor）</vt:lpstr>
      <vt:lpstr>Step7：程式碼位置與說明</vt:lpstr>
      <vt:lpstr>Step8：實作成果</vt:lpstr>
      <vt:lpstr>燒錄Factory範例 複製範例</vt:lpstr>
      <vt:lpstr>複製範例(續)</vt:lpstr>
      <vt:lpstr>專案編譯（Build）</vt:lpstr>
      <vt:lpstr>燒錄至開發板（Flash）</vt:lpstr>
      <vt:lpstr>燒錄至開發板（Flash）</vt:lpstr>
      <vt:lpstr>燒錄至開發板（Flash）</vt:lpstr>
      <vt:lpstr>Step1：選定Dataset</vt:lpstr>
      <vt:lpstr>Step2：Dataset上傳</vt:lpstr>
      <vt:lpstr>Step3：修改範例訓練用腳本</vt:lpstr>
      <vt:lpstr>Step3：修改範例訓練用腳本</vt:lpstr>
      <vt:lpstr>Step3：修改範例訓練用腳本</vt:lpstr>
      <vt:lpstr>Step3：修改範例訓練用腳本</vt:lpstr>
      <vt:lpstr>Step3：修改範例訓練用腳本</vt:lpstr>
      <vt:lpstr>Step3：修改範例訓練用腳本</vt:lpstr>
      <vt:lpstr>Step3：修改範例訓練用腳本</vt:lpstr>
      <vt:lpstr>謝謝聆聽</vt:lpstr>
    </vt:vector>
  </TitlesOfParts>
  <Company>Dynabook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鄭儒謙 Johnny Jheng</dc:creator>
  <cp:lastModifiedBy>鄭儒謙 Johnny Jheng</cp:lastModifiedBy>
  <cp:revision>7</cp:revision>
  <dcterms:created xsi:type="dcterms:W3CDTF">2026-01-06T05:53:20Z</dcterms:created>
  <dcterms:modified xsi:type="dcterms:W3CDTF">2026-01-06T10:53:13Z</dcterms:modified>
</cp:coreProperties>
</file>